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266" r:id="rId2"/>
    <p:sldId id="256" r:id="rId3"/>
    <p:sldId id="257" r:id="rId4"/>
    <p:sldId id="258" r:id="rId5"/>
    <p:sldId id="259" r:id="rId6"/>
    <p:sldId id="260" r:id="rId7"/>
    <p:sldId id="261" r:id="rId8"/>
    <p:sldId id="262" r:id="rId9"/>
    <p:sldId id="263" r:id="rId10"/>
    <p:sldId id="265"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52" autoAdjust="0"/>
  </p:normalViewPr>
  <p:slideViewPr>
    <p:cSldViewPr snapToGrid="0" snapToObjects="1">
      <p:cViewPr varScale="1">
        <p:scale>
          <a:sx n="89" d="100"/>
          <a:sy n="89" d="100"/>
        </p:scale>
        <p:origin x="588" y="9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5CB3DE-EF20-4490-A2C4-332669BC4B93}" type="datetimeFigureOut">
              <a:rPr lang="en-IN" smtClean="0"/>
              <a:t>14-07-2025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10A2A-12F2-4ED5-BBC6-801529BEFCDA}" type="slidenum">
              <a:rPr lang="en-IN" smtClean="0"/>
              <a:t>‹#›</a:t>
            </a:fld>
            <a:endParaRPr lang="en-IN"/>
          </a:p>
        </p:txBody>
      </p:sp>
    </p:spTree>
    <p:extLst>
      <p:ext uri="{BB962C8B-B14F-4D97-AF65-F5344CB8AC3E}">
        <p14:creationId xmlns:p14="http://schemas.microsoft.com/office/powerpoint/2010/main" val="245034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emergence of the Internet of Things (IoT) has greatly </a:t>
            </a:r>
            <a:r>
              <a:rPr lang="en-US" sz="1200" b="0" i="0" u="none" strike="noStrike" kern="1200" dirty="0" err="1">
                <a:solidFill>
                  <a:schemeClr val="tx1"/>
                </a:solidFill>
                <a:effectLst/>
                <a:latin typeface="+mn-lt"/>
                <a:ea typeface="+mn-ea"/>
                <a:cs typeface="+mn-cs"/>
              </a:rPr>
              <a:t>revolutionised</a:t>
            </a:r>
            <a:r>
              <a:rPr lang="en-US" sz="1200" b="0" i="0" u="none" strike="noStrike" kern="1200" dirty="0">
                <a:solidFill>
                  <a:schemeClr val="tx1"/>
                </a:solidFill>
                <a:effectLst/>
                <a:latin typeface="+mn-lt"/>
                <a:ea typeface="+mn-ea"/>
                <a:cs typeface="+mn-cs"/>
              </a:rPr>
              <a:t> home automation, providing convenience, efficiency and better control of household systems. Converged Smart homes, which consist of connected devices like thermostats, lights, cameras, and voice assistants, support convenient user experiences with the ability to monitor and control the home remotely. The increasing integration of IoT in houses has turned everyday life more intelligent and smarter. But such connectivity also poses a great cybersecurity threat. Poorly authored authentication and unencrypted communications, bad access control, and vulnerability to outsiders are common threats to IoT devices, which makes them a desirable target to attackers. These vulnerabilities may cause </a:t>
            </a:r>
            <a:r>
              <a:rPr lang="en-US" sz="1200" b="0" i="0" u="none" strike="noStrike" kern="1200" dirty="0" err="1">
                <a:solidFill>
                  <a:schemeClr val="tx1"/>
                </a:solidFill>
                <a:effectLst/>
                <a:latin typeface="+mn-lt"/>
                <a:ea typeface="+mn-ea"/>
                <a:cs typeface="+mn-cs"/>
              </a:rPr>
              <a:t>unauthorised</a:t>
            </a:r>
            <a:r>
              <a:rPr lang="en-US" sz="1200" b="0" i="0" u="none" strike="noStrike" kern="1200" dirty="0">
                <a:solidFill>
                  <a:schemeClr val="tx1"/>
                </a:solidFill>
                <a:effectLst/>
                <a:latin typeface="+mn-lt"/>
                <a:ea typeface="+mn-ea"/>
                <a:cs typeface="+mn-cs"/>
              </a:rPr>
              <a:t> access, data leak, and device malfunction. This study is aimed at modelling and simulating a secure architecture IoT network with the view to solving these vulnerabilities. Through using high-end security protocols like WPA3 encryption, VLAN segmentation, and MAC filtering, this research will help to strengthen the security of smart homes against cyberattacks.</a:t>
            </a:r>
            <a:endParaRPr lang="en-US" b="0" dirty="0">
              <a:effectLst/>
            </a:endParaRPr>
          </a:p>
          <a:p>
            <a:br>
              <a:rPr lang="en-US" dirty="0"/>
            </a:br>
            <a:endParaRPr lang="en-IN" dirty="0"/>
          </a:p>
        </p:txBody>
      </p:sp>
      <p:sp>
        <p:nvSpPr>
          <p:cNvPr id="4" name="Slide Number Placeholder 3"/>
          <p:cNvSpPr>
            <a:spLocks noGrp="1"/>
          </p:cNvSpPr>
          <p:nvPr>
            <p:ph type="sldNum" sz="quarter" idx="5"/>
          </p:nvPr>
        </p:nvSpPr>
        <p:spPr/>
        <p:txBody>
          <a:bodyPr/>
          <a:lstStyle/>
          <a:p>
            <a:fld id="{8DF10A2A-12F2-4ED5-BBC6-801529BEFCDA}" type="slidenum">
              <a:rPr lang="en-IN" smtClean="0"/>
              <a:t>2</a:t>
            </a:fld>
            <a:endParaRPr lang="en-IN"/>
          </a:p>
        </p:txBody>
      </p:sp>
    </p:spTree>
    <p:extLst>
      <p:ext uri="{BB962C8B-B14F-4D97-AF65-F5344CB8AC3E}">
        <p14:creationId xmlns:p14="http://schemas.microsoft.com/office/powerpoint/2010/main" val="315927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concept of IoT security is still a major issue because most devices and networks used are vulnerable. </a:t>
            </a:r>
            <a:r>
              <a:rPr lang="en-US" sz="1200" b="0" i="0" u="none" strike="noStrike" kern="1200" dirty="0" err="1">
                <a:solidFill>
                  <a:schemeClr val="tx1"/>
                </a:solidFill>
                <a:effectLst/>
                <a:latin typeface="+mn-lt"/>
                <a:ea typeface="+mn-ea"/>
                <a:cs typeface="+mn-cs"/>
              </a:rPr>
              <a:t>Unauthorised</a:t>
            </a:r>
            <a:r>
              <a:rPr lang="en-US" sz="1200" b="0" i="0" u="none" strike="noStrike" kern="1200" dirty="0">
                <a:solidFill>
                  <a:schemeClr val="tx1"/>
                </a:solidFill>
                <a:effectLst/>
                <a:latin typeface="+mn-lt"/>
                <a:ea typeface="+mn-ea"/>
                <a:cs typeface="+mn-cs"/>
              </a:rPr>
              <a:t> access to IoT devices is one of the most frequent problems, which can be achieved with the help of common and weak passwords or default ones. Most of the IoT devices are not very strong in security, which exposes them to susceptibility to brute-force attacks and unworthy manipulation. Furthermore, encryption has not been used in most cases of IoT communication, thus predisposing sensitive data to spying and information interception. These weaknesses ensure that there is a significant need to improve the security processes in IOT systems (Abiodun </a:t>
            </a:r>
            <a:r>
              <a:rPr lang="en-US" sz="1200" b="0" i="1" u="none" strike="noStrike" kern="1200" dirty="0">
                <a:solidFill>
                  <a:schemeClr val="tx1"/>
                </a:solidFill>
                <a:effectLst/>
                <a:latin typeface="+mn-lt"/>
                <a:ea typeface="+mn-ea"/>
                <a:cs typeface="+mn-cs"/>
              </a:rPr>
              <a:t>et al</a:t>
            </a:r>
            <a:r>
              <a:rPr lang="en-US" sz="1200" b="0" i="0" u="none" strike="noStrike" kern="1200" dirty="0">
                <a:solidFill>
                  <a:schemeClr val="tx1"/>
                </a:solidFill>
                <a:effectLst/>
                <a:latin typeface="+mn-lt"/>
                <a:ea typeface="+mn-ea"/>
                <a:cs typeface="+mn-cs"/>
              </a:rPr>
              <a:t>. 2021). To reduce such risks, the concept of “WPA3 encryption” has been developed, which serves to perform wireless network encryption with enhanced safety structures against brute-force attacks. Furthermore, network segmentation and “role-based access control (RBAC)” have emerged as solutions. Home automation has seen considerable growth with the influx of the “Internet of Things(IoT)”, which comes with ease of use and efficiency, and provides improved control over the systems in a household. With the help of interconnected gadgets, including thermostats, lights, cameras, and voice assistants, smart homes allow users to operate programmatically and create seamless experiences since one can monitor and manage them remotely. The increased use of IoT in homes has made everyday life more connected and smart. </a:t>
            </a:r>
            <a:endParaRPr lang="en-US" b="0" dirty="0">
              <a:effectLst/>
            </a:endParaRPr>
          </a:p>
          <a:p>
            <a:br>
              <a:rPr lang="en-US" dirty="0"/>
            </a:br>
            <a:endParaRPr lang="en-IN" dirty="0"/>
          </a:p>
        </p:txBody>
      </p:sp>
      <p:sp>
        <p:nvSpPr>
          <p:cNvPr id="4" name="Slide Number Placeholder 3"/>
          <p:cNvSpPr>
            <a:spLocks noGrp="1"/>
          </p:cNvSpPr>
          <p:nvPr>
            <p:ph type="sldNum" sz="quarter" idx="5"/>
          </p:nvPr>
        </p:nvSpPr>
        <p:spPr/>
        <p:txBody>
          <a:bodyPr/>
          <a:lstStyle/>
          <a:p>
            <a:fld id="{8DF10A2A-12F2-4ED5-BBC6-801529BEFCDA}" type="slidenum">
              <a:rPr lang="en-IN" smtClean="0"/>
              <a:t>3</a:t>
            </a:fld>
            <a:endParaRPr lang="en-IN"/>
          </a:p>
        </p:txBody>
      </p:sp>
    </p:spTree>
    <p:extLst>
      <p:ext uri="{BB962C8B-B14F-4D97-AF65-F5344CB8AC3E}">
        <p14:creationId xmlns:p14="http://schemas.microsoft.com/office/powerpoint/2010/main" val="1484979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research approach to this paper is the process of developing a two-point network structure of the smart home IoT environment. The insecure IoT network is the first stage that starts with the connection between several devices, including a laptop, smart light, smart camera, and smartphone, and a router, but they are not secured. The said configuration mimics a typical unsecured smart home network, where one can detect the potential weaknesses, which include direct access, poor authentication, and plaintext-based communication (Ahmad </a:t>
            </a:r>
            <a:r>
              <a:rPr lang="en-US" sz="1200" b="0" i="1" u="none" strike="noStrike" kern="1200" dirty="0">
                <a:solidFill>
                  <a:schemeClr val="tx1"/>
                </a:solidFill>
                <a:effectLst/>
                <a:latin typeface="+mn-lt"/>
                <a:ea typeface="+mn-ea"/>
                <a:cs typeface="+mn-cs"/>
              </a:rPr>
              <a:t>et al.</a:t>
            </a:r>
            <a:r>
              <a:rPr lang="en-US" sz="1200" b="0" i="0" u="none" strike="noStrike" kern="1200" dirty="0">
                <a:solidFill>
                  <a:schemeClr val="tx1"/>
                </a:solidFill>
                <a:effectLst/>
                <a:latin typeface="+mn-lt"/>
                <a:ea typeface="+mn-ea"/>
                <a:cs typeface="+mn-cs"/>
              </a:rPr>
              <a:t> 2024). During the second step, the network will be made secure with the help of “WPA3 encryption” to secure wireless communication, “VLAN segmentation” of critical and non-critical devices, MAC address filtering, and “role-based access control (RBAC)” to prevent </a:t>
            </a:r>
            <a:r>
              <a:rPr lang="en-US" sz="1200" b="0" i="0" u="none" strike="noStrike" kern="1200" dirty="0" err="1">
                <a:solidFill>
                  <a:schemeClr val="tx1"/>
                </a:solidFill>
                <a:effectLst/>
                <a:latin typeface="+mn-lt"/>
                <a:ea typeface="+mn-ea"/>
                <a:cs typeface="+mn-cs"/>
              </a:rPr>
              <a:t>unauthorised</a:t>
            </a:r>
            <a:r>
              <a:rPr lang="en-US" sz="1200" b="0" i="0" u="none" strike="noStrike" kern="1200" dirty="0">
                <a:solidFill>
                  <a:schemeClr val="tx1"/>
                </a:solidFill>
                <a:effectLst/>
                <a:latin typeface="+mn-lt"/>
                <a:ea typeface="+mn-ea"/>
                <a:cs typeface="+mn-cs"/>
              </a:rPr>
              <a:t> access. Such security precautions will help to counter the risks pointed out at the initial stage. The Cisco Packet Tracer application is used to simulate a secure and vulnerable network setup. With the help of Packet Tracer, it will be possible to deploy devices virtually, cogitate over the setup of security attributes, and check network interactions in a controlled setting. </a:t>
            </a:r>
            <a:endParaRPr lang="en-US" b="0" dirty="0">
              <a:effectLst/>
            </a:endParaRPr>
          </a:p>
          <a:p>
            <a:br>
              <a:rPr lang="en-US" dirty="0"/>
            </a:br>
            <a:endParaRPr lang="en-IN" dirty="0"/>
          </a:p>
        </p:txBody>
      </p:sp>
      <p:sp>
        <p:nvSpPr>
          <p:cNvPr id="4" name="Slide Number Placeholder 3"/>
          <p:cNvSpPr>
            <a:spLocks noGrp="1"/>
          </p:cNvSpPr>
          <p:nvPr>
            <p:ph type="sldNum" sz="quarter" idx="5"/>
          </p:nvPr>
        </p:nvSpPr>
        <p:spPr/>
        <p:txBody>
          <a:bodyPr/>
          <a:lstStyle/>
          <a:p>
            <a:fld id="{8DF10A2A-12F2-4ED5-BBC6-801529BEFCDA}" type="slidenum">
              <a:rPr lang="en-IN" smtClean="0"/>
              <a:t>4</a:t>
            </a:fld>
            <a:endParaRPr lang="en-IN"/>
          </a:p>
        </p:txBody>
      </p:sp>
    </p:spTree>
    <p:extLst>
      <p:ext uri="{BB962C8B-B14F-4D97-AF65-F5344CB8AC3E}">
        <p14:creationId xmlns:p14="http://schemas.microsoft.com/office/powerpoint/2010/main" val="2476997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basic configuration is a non-secure IoT </a:t>
            </a:r>
            <a:r>
              <a:rPr lang="en-US" sz="1200" b="0" i="0" u="none" strike="noStrike" kern="1200" dirty="0" err="1">
                <a:solidFill>
                  <a:schemeClr val="tx1"/>
                </a:solidFill>
                <a:effectLst/>
                <a:latin typeface="+mn-lt"/>
                <a:ea typeface="+mn-ea"/>
                <a:cs typeface="+mn-cs"/>
              </a:rPr>
              <a:t>Wifi</a:t>
            </a:r>
            <a:r>
              <a:rPr lang="en-US" sz="1200" b="0" i="0" u="none" strike="noStrike" kern="1200" dirty="0">
                <a:solidFill>
                  <a:schemeClr val="tx1"/>
                </a:solidFill>
                <a:effectLst/>
                <a:latin typeface="+mn-lt"/>
                <a:ea typeface="+mn-ea"/>
                <a:cs typeface="+mn-cs"/>
              </a:rPr>
              <a:t> network consisting of three devices: a laptop, a smart light, and a smart camera, all relating to an open “WRT300N wireless router”. Such devices are set with DHCP so that the IP addresses are issued automatically by a router.</a:t>
            </a:r>
            <a:endParaRPr lang="en-US" b="0" dirty="0">
              <a:effectLst/>
            </a:endParaRPr>
          </a:p>
          <a:p>
            <a:pPr rtl="0"/>
            <a:r>
              <a:rPr lang="en-US" sz="1200" b="0" i="0" u="none" strike="noStrike" kern="1200" dirty="0">
                <a:solidFill>
                  <a:schemeClr val="tx1"/>
                </a:solidFill>
                <a:effectLst/>
                <a:latin typeface="+mn-lt"/>
                <a:ea typeface="+mn-ea"/>
                <a:cs typeface="+mn-cs"/>
              </a:rPr>
              <a:t> There are no security measures, as a result of which the equipment could freely exchange messages within the network (Latif </a:t>
            </a:r>
            <a:r>
              <a:rPr lang="en-US" sz="1200" b="0" i="1" u="none" strike="noStrike" kern="1200" dirty="0">
                <a:solidFill>
                  <a:schemeClr val="tx1"/>
                </a:solidFill>
                <a:effectLst/>
                <a:latin typeface="+mn-lt"/>
                <a:ea typeface="+mn-ea"/>
                <a:cs typeface="+mn-cs"/>
              </a:rPr>
              <a:t>et al.</a:t>
            </a:r>
            <a:r>
              <a:rPr lang="en-US" sz="1200" b="0" i="0" u="none" strike="noStrike" kern="1200" dirty="0">
                <a:solidFill>
                  <a:schemeClr val="tx1"/>
                </a:solidFill>
                <a:effectLst/>
                <a:latin typeface="+mn-lt"/>
                <a:ea typeface="+mn-ea"/>
                <a:cs typeface="+mn-cs"/>
              </a:rPr>
              <a:t> 2022). This arrangement exposed the network to various threats because unapproved devices could connect and access the network easily.</a:t>
            </a:r>
            <a:endParaRPr lang="en-US" b="0" dirty="0">
              <a:effectLst/>
            </a:endParaRPr>
          </a:p>
          <a:p>
            <a:br>
              <a:rPr lang="en-US" dirty="0"/>
            </a:br>
            <a:endParaRPr lang="en-IN" dirty="0"/>
          </a:p>
        </p:txBody>
      </p:sp>
      <p:sp>
        <p:nvSpPr>
          <p:cNvPr id="4" name="Slide Number Placeholder 3"/>
          <p:cNvSpPr>
            <a:spLocks noGrp="1"/>
          </p:cNvSpPr>
          <p:nvPr>
            <p:ph type="sldNum" sz="quarter" idx="5"/>
          </p:nvPr>
        </p:nvSpPr>
        <p:spPr/>
        <p:txBody>
          <a:bodyPr/>
          <a:lstStyle/>
          <a:p>
            <a:fld id="{8DF10A2A-12F2-4ED5-BBC6-801529BEFCDA}" type="slidenum">
              <a:rPr lang="en-IN" smtClean="0"/>
              <a:t>5</a:t>
            </a:fld>
            <a:endParaRPr lang="en-IN"/>
          </a:p>
        </p:txBody>
      </p:sp>
    </p:spTree>
    <p:extLst>
      <p:ext uri="{BB962C8B-B14F-4D97-AF65-F5344CB8AC3E}">
        <p14:creationId xmlns:p14="http://schemas.microsoft.com/office/powerpoint/2010/main" val="3482561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Several measures are taken to increase the security of the network:</a:t>
            </a:r>
            <a:endParaRPr lang="en-US" b="0" dirty="0">
              <a:effectLst/>
            </a:endParaRPr>
          </a:p>
          <a:p>
            <a:pPr rtl="0" fontAlgn="base"/>
            <a:r>
              <a:rPr lang="en-US" sz="1200" b="0" i="0" u="none" strike="noStrike" kern="1200" dirty="0">
                <a:solidFill>
                  <a:schemeClr val="tx1"/>
                </a:solidFill>
                <a:effectLst/>
                <a:latin typeface="+mn-lt"/>
                <a:ea typeface="+mn-ea"/>
                <a:cs typeface="+mn-cs"/>
              </a:rPr>
              <a:t>The router is also encrypted using WPA3, a range of solid encryption on wireless communications. </a:t>
            </a:r>
          </a:p>
          <a:p>
            <a:pPr rtl="0" fontAlgn="base"/>
            <a:r>
              <a:rPr lang="en-US" sz="1200" b="0" i="0" u="none" strike="noStrike" kern="1200" dirty="0">
                <a:solidFill>
                  <a:schemeClr val="tx1"/>
                </a:solidFill>
                <a:effectLst/>
                <a:latin typeface="+mn-lt"/>
                <a:ea typeface="+mn-ea"/>
                <a:cs typeface="+mn-cs"/>
              </a:rPr>
              <a:t>VLAN Segmentation came into place to provide network division into remote units. When it came to critical devices like the smart camera, it is properly placed in a different VLAN compared to the less critical devices, like the smart light. </a:t>
            </a:r>
          </a:p>
        </p:txBody>
      </p:sp>
      <p:sp>
        <p:nvSpPr>
          <p:cNvPr id="4" name="Slide Number Placeholder 3"/>
          <p:cNvSpPr>
            <a:spLocks noGrp="1"/>
          </p:cNvSpPr>
          <p:nvPr>
            <p:ph type="sldNum" sz="quarter" idx="5"/>
          </p:nvPr>
        </p:nvSpPr>
        <p:spPr/>
        <p:txBody>
          <a:bodyPr/>
          <a:lstStyle/>
          <a:p>
            <a:fld id="{8DF10A2A-12F2-4ED5-BBC6-801529BEFCDA}" type="slidenum">
              <a:rPr lang="en-IN" smtClean="0"/>
              <a:t>6</a:t>
            </a:fld>
            <a:endParaRPr lang="en-IN"/>
          </a:p>
        </p:txBody>
      </p:sp>
    </p:spTree>
    <p:extLst>
      <p:ext uri="{BB962C8B-B14F-4D97-AF65-F5344CB8AC3E}">
        <p14:creationId xmlns:p14="http://schemas.microsoft.com/office/powerpoint/2010/main" val="2716974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u="none" strike="noStrike" kern="1200" dirty="0">
                <a:solidFill>
                  <a:schemeClr val="tx1"/>
                </a:solidFill>
                <a:effectLst/>
                <a:latin typeface="+mn-lt"/>
                <a:ea typeface="+mn-ea"/>
                <a:cs typeface="+mn-cs"/>
              </a:rPr>
              <a:t>The MAC Filtering is also applied, and only the devices having previously agreed-upon addresses can connect to the network (Lata and Kumar, 2022). This gave an extra security measure whereby </a:t>
            </a:r>
            <a:r>
              <a:rPr lang="en-US" sz="1200" b="0" i="0" u="none" strike="noStrike" kern="1200" dirty="0" err="1">
                <a:solidFill>
                  <a:schemeClr val="tx1"/>
                </a:solidFill>
                <a:effectLst/>
                <a:latin typeface="+mn-lt"/>
                <a:ea typeface="+mn-ea"/>
                <a:cs typeface="+mn-cs"/>
              </a:rPr>
              <a:t>unauthorised</a:t>
            </a:r>
            <a:r>
              <a:rPr lang="en-US" sz="1200" b="0" i="0" u="none" strike="noStrike" kern="1200" dirty="0">
                <a:solidFill>
                  <a:schemeClr val="tx1"/>
                </a:solidFill>
                <a:effectLst/>
                <a:latin typeface="+mn-lt"/>
                <a:ea typeface="+mn-ea"/>
                <a:cs typeface="+mn-cs"/>
              </a:rPr>
              <a:t> devices are not allowed access.</a:t>
            </a:r>
          </a:p>
          <a:p>
            <a:pPr rtl="0" fontAlgn="base"/>
            <a:r>
              <a:rPr lang="en-US" sz="1200" b="0" i="0" u="none" strike="noStrike" kern="1200" dirty="0">
                <a:solidFill>
                  <a:schemeClr val="tx1"/>
                </a:solidFill>
                <a:effectLst/>
                <a:latin typeface="+mn-lt"/>
                <a:ea typeface="+mn-ea"/>
                <a:cs typeface="+mn-cs"/>
              </a:rPr>
              <a:t>Once these measures of security are implemented, communication between devices is less free, and </a:t>
            </a:r>
            <a:r>
              <a:rPr lang="en-US" sz="1200" b="0" i="0" u="none" strike="noStrike" kern="1200" dirty="0" err="1">
                <a:solidFill>
                  <a:schemeClr val="tx1"/>
                </a:solidFill>
                <a:effectLst/>
                <a:latin typeface="+mn-lt"/>
                <a:ea typeface="+mn-ea"/>
                <a:cs typeface="+mn-cs"/>
              </a:rPr>
              <a:t>unauthorised</a:t>
            </a:r>
            <a:r>
              <a:rPr lang="en-US" sz="1200" b="0" i="0" u="none" strike="noStrike" kern="1200" dirty="0">
                <a:solidFill>
                  <a:schemeClr val="tx1"/>
                </a:solidFill>
                <a:effectLst/>
                <a:latin typeface="+mn-lt"/>
                <a:ea typeface="+mn-ea"/>
                <a:cs typeface="+mn-cs"/>
              </a:rPr>
              <a:t> access is greatly limited. Each VLAN could interconnect its devices without limitation.</a:t>
            </a:r>
          </a:p>
          <a:p>
            <a:endParaRPr lang="en-IN" dirty="0"/>
          </a:p>
        </p:txBody>
      </p:sp>
      <p:sp>
        <p:nvSpPr>
          <p:cNvPr id="4" name="Slide Number Placeholder 3"/>
          <p:cNvSpPr>
            <a:spLocks noGrp="1"/>
          </p:cNvSpPr>
          <p:nvPr>
            <p:ph type="sldNum" sz="quarter" idx="5"/>
          </p:nvPr>
        </p:nvSpPr>
        <p:spPr/>
        <p:txBody>
          <a:bodyPr/>
          <a:lstStyle/>
          <a:p>
            <a:fld id="{8DF10A2A-12F2-4ED5-BBC6-801529BEFCDA}" type="slidenum">
              <a:rPr lang="en-IN" smtClean="0"/>
              <a:t>7</a:t>
            </a:fld>
            <a:endParaRPr lang="en-IN"/>
          </a:p>
        </p:txBody>
      </p:sp>
    </p:spTree>
    <p:extLst>
      <p:ext uri="{BB962C8B-B14F-4D97-AF65-F5344CB8AC3E}">
        <p14:creationId xmlns:p14="http://schemas.microsoft.com/office/powerpoint/2010/main" val="2300371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In the simulation, there are difficulties, including misconfigured VLANs that, in the first place, led to the inability of devices in the same segment to communicate with each other effectively (Rachit Bhatt and </a:t>
            </a:r>
            <a:r>
              <a:rPr lang="en-US" sz="1200" b="0" i="0" u="none" strike="noStrike" kern="1200" dirty="0" err="1">
                <a:solidFill>
                  <a:schemeClr val="tx1"/>
                </a:solidFill>
                <a:effectLst/>
                <a:latin typeface="+mn-lt"/>
                <a:ea typeface="+mn-ea"/>
                <a:cs typeface="+mn-cs"/>
              </a:rPr>
              <a:t>Ragiri</a:t>
            </a:r>
            <a:r>
              <a:rPr lang="en-US" sz="1200" b="0" i="0" u="none" strike="noStrike" kern="1200" dirty="0">
                <a:solidFill>
                  <a:schemeClr val="tx1"/>
                </a:solidFill>
                <a:effectLst/>
                <a:latin typeface="+mn-lt"/>
                <a:ea typeface="+mn-ea"/>
                <a:cs typeface="+mn-cs"/>
              </a:rPr>
              <a:t>, 2021). This is a problem that is solved using a close examination of VLAN settings. A MAC filtering misconfiguration occurred and which gave the device difficulties in connecting in the first place, but this is solved by checking the MAC address list through updating. </a:t>
            </a:r>
            <a:endParaRPr lang="en-US" b="0" dirty="0">
              <a:effectLst/>
            </a:endParaRPr>
          </a:p>
          <a:p>
            <a:br>
              <a:rPr lang="en-US" dirty="0"/>
            </a:br>
            <a:endParaRPr lang="en-IN" dirty="0"/>
          </a:p>
        </p:txBody>
      </p:sp>
      <p:sp>
        <p:nvSpPr>
          <p:cNvPr id="4" name="Slide Number Placeholder 3"/>
          <p:cNvSpPr>
            <a:spLocks noGrp="1"/>
          </p:cNvSpPr>
          <p:nvPr>
            <p:ph type="sldNum" sz="quarter" idx="5"/>
          </p:nvPr>
        </p:nvSpPr>
        <p:spPr/>
        <p:txBody>
          <a:bodyPr/>
          <a:lstStyle/>
          <a:p>
            <a:fld id="{8DF10A2A-12F2-4ED5-BBC6-801529BEFCDA}" type="slidenum">
              <a:rPr lang="en-IN" smtClean="0"/>
              <a:t>8</a:t>
            </a:fld>
            <a:endParaRPr lang="en-IN"/>
          </a:p>
        </p:txBody>
      </p:sp>
    </p:spTree>
    <p:extLst>
      <p:ext uri="{BB962C8B-B14F-4D97-AF65-F5344CB8AC3E}">
        <p14:creationId xmlns:p14="http://schemas.microsoft.com/office/powerpoint/2010/main" val="3800350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This paper has managed to show how IoT network security in smart homes can address the risks inherent in poorly authenticated devices, unsecured communications, and ill-</a:t>
            </a:r>
            <a:r>
              <a:rPr lang="en-US" sz="1200" b="0" i="0" u="none" strike="noStrike" kern="1200" dirty="0" err="1">
                <a:solidFill>
                  <a:schemeClr val="tx1"/>
                </a:solidFill>
                <a:effectLst/>
                <a:latin typeface="+mn-lt"/>
                <a:ea typeface="+mn-ea"/>
                <a:cs typeface="+mn-cs"/>
              </a:rPr>
              <a:t>organised</a:t>
            </a:r>
            <a:r>
              <a:rPr lang="en-US" sz="1200" b="0" i="0" u="none" strike="noStrike" kern="1200" dirty="0">
                <a:solidFill>
                  <a:schemeClr val="tx1"/>
                </a:solidFill>
                <a:effectLst/>
                <a:latin typeface="+mn-lt"/>
                <a:ea typeface="+mn-ea"/>
                <a:cs typeface="+mn-cs"/>
              </a:rPr>
              <a:t> access. The introduction of WPA3 encryption protocol, VLAN segmentation, and MAC filtering allowed for a substantial increase in the network security level and prevented </a:t>
            </a:r>
            <a:r>
              <a:rPr lang="en-US" sz="1200" b="0" i="0" u="none" strike="noStrike" kern="1200" dirty="0" err="1">
                <a:solidFill>
                  <a:schemeClr val="tx1"/>
                </a:solidFill>
                <a:effectLst/>
                <a:latin typeface="+mn-lt"/>
                <a:ea typeface="+mn-ea"/>
                <a:cs typeface="+mn-cs"/>
              </a:rPr>
              <a:t>unauthorised</a:t>
            </a:r>
            <a:r>
              <a:rPr lang="en-US" sz="1200" b="0" i="0" u="none" strike="noStrike" kern="1200" dirty="0">
                <a:solidFill>
                  <a:schemeClr val="tx1"/>
                </a:solidFill>
                <a:effectLst/>
                <a:latin typeface="+mn-lt"/>
                <a:ea typeface="+mn-ea"/>
                <a:cs typeface="+mn-cs"/>
              </a:rPr>
              <a:t> access to it, as well as secure communication between the devices. The study points to the significance of a well-defined network structure in smart homes that would ensure high security of sensitive information and the integrity of devices. Though we had encountered problems like VLAN misconfiguration, misconfiguration of the MAC filter, they have been resolved, and this has resulted in a more secure network environment. The potential questions that might be considered in future studies are the investigation of additional security measures and automated control tools to protect the IoT devices.</a:t>
            </a:r>
            <a:endParaRPr lang="en-US" b="0" dirty="0">
              <a:effectLst/>
            </a:endParaRPr>
          </a:p>
          <a:p>
            <a:br>
              <a:rPr lang="en-US" dirty="0"/>
            </a:br>
            <a:endParaRPr lang="en-IN" dirty="0"/>
          </a:p>
        </p:txBody>
      </p:sp>
      <p:sp>
        <p:nvSpPr>
          <p:cNvPr id="4" name="Slide Number Placeholder 3"/>
          <p:cNvSpPr>
            <a:spLocks noGrp="1"/>
          </p:cNvSpPr>
          <p:nvPr>
            <p:ph type="sldNum" sz="quarter" idx="5"/>
          </p:nvPr>
        </p:nvSpPr>
        <p:spPr/>
        <p:txBody>
          <a:bodyPr/>
          <a:lstStyle/>
          <a:p>
            <a:fld id="{8DF10A2A-12F2-4ED5-BBC6-801529BEFCDA}" type="slidenum">
              <a:rPr lang="en-IN" smtClean="0"/>
              <a:t>9</a:t>
            </a:fld>
            <a:endParaRPr lang="en-IN"/>
          </a:p>
        </p:txBody>
      </p:sp>
    </p:spTree>
    <p:extLst>
      <p:ext uri="{BB962C8B-B14F-4D97-AF65-F5344CB8AC3E}">
        <p14:creationId xmlns:p14="http://schemas.microsoft.com/office/powerpoint/2010/main" val="2291465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sz="1200" b="0" i="0" u="none" strike="noStrike" kern="1200" dirty="0" err="1">
                <a:solidFill>
                  <a:schemeClr val="tx1"/>
                </a:solidFill>
                <a:effectLst/>
                <a:latin typeface="+mn-lt"/>
                <a:ea typeface="+mn-ea"/>
                <a:cs typeface="+mn-cs"/>
              </a:rPr>
              <a:t>Simadiputra</a:t>
            </a:r>
            <a:r>
              <a:rPr lang="en-IN" sz="1200" b="0" i="0" u="none" strike="noStrike" kern="1200" dirty="0">
                <a:solidFill>
                  <a:schemeClr val="tx1"/>
                </a:solidFill>
                <a:effectLst/>
                <a:latin typeface="+mn-lt"/>
                <a:ea typeface="+mn-ea"/>
                <a:cs typeface="+mn-cs"/>
              </a:rPr>
              <a:t>, V. and </a:t>
            </a:r>
            <a:r>
              <a:rPr lang="en-IN" sz="1200" b="0" i="0" u="none" strike="noStrike" kern="1200" dirty="0" err="1">
                <a:solidFill>
                  <a:schemeClr val="tx1"/>
                </a:solidFill>
                <a:effectLst/>
                <a:latin typeface="+mn-lt"/>
                <a:ea typeface="+mn-ea"/>
                <a:cs typeface="+mn-cs"/>
              </a:rPr>
              <a:t>Surantha</a:t>
            </a:r>
            <a:r>
              <a:rPr lang="en-IN" sz="1200" b="0" i="0" u="none" strike="noStrike" kern="1200" dirty="0">
                <a:solidFill>
                  <a:schemeClr val="tx1"/>
                </a:solidFill>
                <a:effectLst/>
                <a:latin typeface="+mn-lt"/>
                <a:ea typeface="+mn-ea"/>
                <a:cs typeface="+mn-cs"/>
              </a:rPr>
              <a:t>, N., 2021. </a:t>
            </a:r>
            <a:r>
              <a:rPr lang="en-IN" sz="1200" b="0" i="0" u="none" strike="noStrike" kern="1200" dirty="0" err="1">
                <a:solidFill>
                  <a:schemeClr val="tx1"/>
                </a:solidFill>
                <a:effectLst/>
                <a:latin typeface="+mn-lt"/>
                <a:ea typeface="+mn-ea"/>
                <a:cs typeface="+mn-cs"/>
              </a:rPr>
              <a:t>Rasefiberry</a:t>
            </a:r>
            <a:r>
              <a:rPr lang="en-IN" sz="1200" b="0" i="0" u="none" strike="noStrike" kern="1200" dirty="0">
                <a:solidFill>
                  <a:schemeClr val="tx1"/>
                </a:solidFill>
                <a:effectLst/>
                <a:latin typeface="+mn-lt"/>
                <a:ea typeface="+mn-ea"/>
                <a:cs typeface="+mn-cs"/>
              </a:rPr>
              <a:t>: Secure and efficient Raspberry-Pi based gateway for </a:t>
            </a:r>
            <a:r>
              <a:rPr lang="en-IN" sz="1200" b="0" i="0" u="none" strike="noStrike" kern="1200" dirty="0" err="1">
                <a:solidFill>
                  <a:schemeClr val="tx1"/>
                </a:solidFill>
                <a:effectLst/>
                <a:latin typeface="+mn-lt"/>
                <a:ea typeface="+mn-ea"/>
                <a:cs typeface="+mn-cs"/>
              </a:rPr>
              <a:t>smarthome</a:t>
            </a:r>
            <a:r>
              <a:rPr lang="en-IN" sz="1200" b="0" i="0" u="none" strike="noStrike" kern="1200" dirty="0">
                <a:solidFill>
                  <a:schemeClr val="tx1"/>
                </a:solidFill>
                <a:effectLst/>
                <a:latin typeface="+mn-lt"/>
                <a:ea typeface="+mn-ea"/>
                <a:cs typeface="+mn-cs"/>
              </a:rPr>
              <a:t> IoT architecture. Bulletin of Electrical Engineering and Informatics, 10(2), pp.1035-1045.</a:t>
            </a:r>
            <a:endParaRPr lang="en-IN" b="0" dirty="0">
              <a:effectLst/>
            </a:endParaRPr>
          </a:p>
          <a:p>
            <a:pPr rtl="0"/>
            <a:r>
              <a:rPr lang="en-IN" sz="1200" b="0" i="0" u="none" strike="noStrike" kern="1200" dirty="0">
                <a:solidFill>
                  <a:schemeClr val="tx1"/>
                </a:solidFill>
                <a:effectLst/>
                <a:latin typeface="+mn-lt"/>
                <a:ea typeface="+mn-ea"/>
                <a:cs typeface="+mn-cs"/>
              </a:rPr>
              <a:t>Latif, S.A., Wen, F.B.X., </a:t>
            </a:r>
            <a:r>
              <a:rPr lang="en-IN" sz="1200" b="0" i="0" u="none" strike="noStrike" kern="1200" dirty="0" err="1">
                <a:solidFill>
                  <a:schemeClr val="tx1"/>
                </a:solidFill>
                <a:effectLst/>
                <a:latin typeface="+mn-lt"/>
                <a:ea typeface="+mn-ea"/>
                <a:cs typeface="+mn-cs"/>
              </a:rPr>
              <a:t>Iwendi</a:t>
            </a:r>
            <a:r>
              <a:rPr lang="en-IN" sz="1200" b="0" i="0" u="none" strike="noStrike" kern="1200" dirty="0">
                <a:solidFill>
                  <a:schemeClr val="tx1"/>
                </a:solidFill>
                <a:effectLst/>
                <a:latin typeface="+mn-lt"/>
                <a:ea typeface="+mn-ea"/>
                <a:cs typeface="+mn-cs"/>
              </a:rPr>
              <a:t>, C., Wang, L.L.F., Mohsin, S.M., Han, Z. and Band, S.S., 2022. AI-</a:t>
            </a:r>
            <a:r>
              <a:rPr lang="en-IN" sz="1200" b="0" i="0" u="none" strike="noStrike" kern="1200" dirty="0" err="1">
                <a:solidFill>
                  <a:schemeClr val="tx1"/>
                </a:solidFill>
                <a:effectLst/>
                <a:latin typeface="+mn-lt"/>
                <a:ea typeface="+mn-ea"/>
                <a:cs typeface="+mn-cs"/>
              </a:rPr>
              <a:t>empoared</a:t>
            </a:r>
            <a:r>
              <a:rPr lang="en-IN" sz="1200" b="0" i="0" u="none" strike="noStrike" kern="1200" dirty="0">
                <a:solidFill>
                  <a:schemeClr val="tx1"/>
                </a:solidFill>
                <a:effectLst/>
                <a:latin typeface="+mn-lt"/>
                <a:ea typeface="+mn-ea"/>
                <a:cs typeface="+mn-cs"/>
              </a:rPr>
              <a:t>, blockchain and SDN integrated security architecture for IoT network of cyber physical systems. Computer communications, 181, pp.274-283.</a:t>
            </a:r>
            <a:endParaRPr lang="en-IN" b="0" dirty="0">
              <a:effectLst/>
            </a:endParaRPr>
          </a:p>
          <a:p>
            <a:br>
              <a:rPr lang="en-IN" b="0" dirty="0">
                <a:effectLst/>
              </a:rPr>
            </a:br>
            <a:endParaRPr lang="en-IN" dirty="0"/>
          </a:p>
        </p:txBody>
      </p:sp>
      <p:sp>
        <p:nvSpPr>
          <p:cNvPr id="4" name="Slide Number Placeholder 3"/>
          <p:cNvSpPr>
            <a:spLocks noGrp="1"/>
          </p:cNvSpPr>
          <p:nvPr>
            <p:ph type="sldNum" sz="quarter" idx="5"/>
          </p:nvPr>
        </p:nvSpPr>
        <p:spPr/>
        <p:txBody>
          <a:bodyPr/>
          <a:lstStyle/>
          <a:p>
            <a:fld id="{8DF10A2A-12F2-4ED5-BBC6-801529BEFCDA}" type="slidenum">
              <a:rPr lang="en-IN" smtClean="0"/>
              <a:t>10</a:t>
            </a:fld>
            <a:endParaRPr lang="en-IN"/>
          </a:p>
        </p:txBody>
      </p:sp>
    </p:spTree>
    <p:extLst>
      <p:ext uri="{BB962C8B-B14F-4D97-AF65-F5344CB8AC3E}">
        <p14:creationId xmlns:p14="http://schemas.microsoft.com/office/powerpoint/2010/main" val="1707047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2828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8251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2689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26642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480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1262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89609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9131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9256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7648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4676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473593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13501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577153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8810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36070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0897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7/14/2025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355664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18D0A-3A1A-B383-7002-F68B51315565}"/>
              </a:ext>
            </a:extLst>
          </p:cNvPr>
          <p:cNvSpPr>
            <a:spLocks noGrp="1"/>
          </p:cNvSpPr>
          <p:nvPr>
            <p:ph type="ctrTitle"/>
          </p:nvPr>
        </p:nvSpPr>
        <p:spPr>
          <a:xfrm>
            <a:off x="1154955" y="2593694"/>
            <a:ext cx="8825658" cy="3329581"/>
          </a:xfrm>
        </p:spPr>
        <p:txBody>
          <a:bodyPr/>
          <a:lstStyle/>
          <a:p>
            <a:pPr algn="ctr"/>
            <a:r>
              <a:rPr lang="en-US" sz="4800" b="1" dirty="0">
                <a:latin typeface="Times New Roman" panose="02020603050405020304" pitchFamily="18" charset="0"/>
                <a:cs typeface="Times New Roman" panose="02020603050405020304" pitchFamily="18" charset="0"/>
              </a:rPr>
              <a:t>SECURING HOME IOT SETUP AT NETWORK ARCHITECTURE LEVEL</a:t>
            </a:r>
            <a:br>
              <a:rPr lang="en-US" sz="4800" dirty="0">
                <a:latin typeface="Times New Roman" panose="02020603050405020304" pitchFamily="18" charset="0"/>
                <a:cs typeface="Times New Roman" panose="02020603050405020304" pitchFamily="18" charset="0"/>
              </a:rPr>
            </a:br>
            <a:br>
              <a:rPr lang="en-US" sz="4800" dirty="0">
                <a:latin typeface="Times New Roman" panose="02020603050405020304" pitchFamily="18" charset="0"/>
                <a:cs typeface="Times New Roman" panose="02020603050405020304" pitchFamily="18" charset="0"/>
              </a:rPr>
            </a:br>
            <a:endParaRPr lang="en-IN"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054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pPr algn="just">
              <a:lnSpc>
                <a:spcPct val="150000"/>
              </a:lnSpc>
            </a:pPr>
            <a:r>
              <a:rPr dirty="0">
                <a:latin typeface="Times New Roman" panose="02020603050405020304" pitchFamily="18" charset="0"/>
                <a:cs typeface="Times New Roman" panose="02020603050405020304" pitchFamily="18" charset="0"/>
              </a:rPr>
              <a:t>IoT revolutionizes home automation by enhancing convenience and control.</a:t>
            </a:r>
          </a:p>
          <a:p>
            <a:pPr algn="just">
              <a:lnSpc>
                <a:spcPct val="150000"/>
              </a:lnSpc>
            </a:pPr>
            <a:r>
              <a:rPr dirty="0">
                <a:latin typeface="Times New Roman" panose="02020603050405020304" pitchFamily="18" charset="0"/>
                <a:cs typeface="Times New Roman" panose="02020603050405020304" pitchFamily="18" charset="0"/>
              </a:rPr>
              <a:t>Smart homes consist of connected devices like thermostats and cameras.</a:t>
            </a:r>
          </a:p>
          <a:p>
            <a:pPr algn="just">
              <a:lnSpc>
                <a:spcPct val="150000"/>
              </a:lnSpc>
            </a:pPr>
            <a:r>
              <a:rPr dirty="0">
                <a:latin typeface="Times New Roman" panose="02020603050405020304" pitchFamily="18" charset="0"/>
                <a:cs typeface="Times New Roman" panose="02020603050405020304" pitchFamily="18" charset="0"/>
              </a:rPr>
              <a:t>IoT introduces efficiency but also cybersecurity risks.</a:t>
            </a:r>
          </a:p>
          <a:p>
            <a:pPr algn="just">
              <a:lnSpc>
                <a:spcPct val="150000"/>
              </a:lnSpc>
            </a:pPr>
            <a:r>
              <a:rPr dirty="0">
                <a:latin typeface="Times New Roman" panose="02020603050405020304" pitchFamily="18" charset="0"/>
                <a:cs typeface="Times New Roman" panose="02020603050405020304" pitchFamily="18" charset="0"/>
              </a:rPr>
              <a:t>Weak authentication, unencrypted communication, and bad access control are common vulnerabilities.</a:t>
            </a:r>
          </a:p>
          <a:p>
            <a:pPr algn="just">
              <a:lnSpc>
                <a:spcPct val="150000"/>
              </a:lnSpc>
            </a:pPr>
            <a:r>
              <a:rPr dirty="0">
                <a:latin typeface="Times New Roman" panose="02020603050405020304" pitchFamily="18" charset="0"/>
                <a:cs typeface="Times New Roman" panose="02020603050405020304" pitchFamily="18" charset="0"/>
              </a:rPr>
              <a:t>The goal is to secure IoT networks using WPA3 encryption, VLAN segmentation, and MAC filtering.</a:t>
            </a:r>
          </a:p>
          <a:p>
            <a:pPr algn="just">
              <a:lnSpc>
                <a:spcPct val="150000"/>
              </a:lnSpc>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p:txBody>
          <a:bodyPr>
            <a:normAutofit/>
          </a:bodyPr>
          <a:lstStyle/>
          <a:p>
            <a:pPr algn="just">
              <a:lnSpc>
                <a:spcPct val="150000"/>
              </a:lnSpc>
            </a:pPr>
            <a:r>
              <a:rPr dirty="0">
                <a:latin typeface="Times New Roman" panose="02020603050405020304" pitchFamily="18" charset="0"/>
                <a:cs typeface="Times New Roman" panose="02020603050405020304" pitchFamily="18" charset="0"/>
              </a:rPr>
              <a:t>IoT security remains a major issue due to device vulnerabilities.</a:t>
            </a:r>
          </a:p>
          <a:p>
            <a:pPr algn="just">
              <a:lnSpc>
                <a:spcPct val="150000"/>
              </a:lnSpc>
            </a:pPr>
            <a:r>
              <a:rPr dirty="0">
                <a:latin typeface="Times New Roman" panose="02020603050405020304" pitchFamily="18" charset="0"/>
                <a:cs typeface="Times New Roman" panose="02020603050405020304" pitchFamily="18" charset="0"/>
              </a:rPr>
              <a:t>Unauthorized access via weak or default passwords is common.</a:t>
            </a:r>
          </a:p>
          <a:p>
            <a:pPr algn="just">
              <a:lnSpc>
                <a:spcPct val="150000"/>
              </a:lnSpc>
            </a:pPr>
            <a:r>
              <a:rPr dirty="0">
                <a:latin typeface="Times New Roman" panose="02020603050405020304" pitchFamily="18" charset="0"/>
                <a:cs typeface="Times New Roman" panose="02020603050405020304" pitchFamily="18" charset="0"/>
              </a:rPr>
              <a:t>Lack of encryption exposes sensitive data to interception.</a:t>
            </a:r>
          </a:p>
          <a:p>
            <a:pPr algn="just">
              <a:lnSpc>
                <a:spcPct val="150000"/>
              </a:lnSpc>
            </a:pPr>
            <a:r>
              <a:rPr dirty="0">
                <a:latin typeface="Times New Roman" panose="02020603050405020304" pitchFamily="18" charset="0"/>
                <a:cs typeface="Times New Roman" panose="02020603050405020304" pitchFamily="18" charset="0"/>
              </a:rPr>
              <a:t>WPA3 encryption improves security against brute-force attacks.</a:t>
            </a:r>
          </a:p>
          <a:p>
            <a:pPr algn="just">
              <a:lnSpc>
                <a:spcPct val="150000"/>
              </a:lnSpc>
            </a:pPr>
            <a:r>
              <a:rPr dirty="0">
                <a:latin typeface="Times New Roman" panose="02020603050405020304" pitchFamily="18" charset="0"/>
                <a:cs typeface="Times New Roman" panose="02020603050405020304" pitchFamily="18" charset="0"/>
              </a:rPr>
              <a:t>VLAN segmentation and RBAC enhance network security and access control.</a:t>
            </a:r>
          </a:p>
          <a:p>
            <a:pPr algn="just">
              <a:lnSpc>
                <a:spcPct val="150000"/>
              </a:lnSpc>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RESEARCH METHODOLOGY</a:t>
            </a:r>
          </a:p>
        </p:txBody>
      </p:sp>
      <p:sp>
        <p:nvSpPr>
          <p:cNvPr id="3" name="Content Placeholder 2"/>
          <p:cNvSpPr>
            <a:spLocks noGrp="1"/>
          </p:cNvSpPr>
          <p:nvPr>
            <p:ph idx="1"/>
          </p:nvPr>
        </p:nvSpPr>
        <p:spPr>
          <a:xfrm>
            <a:off x="1103312" y="2052918"/>
            <a:ext cx="10043108" cy="4195481"/>
          </a:xfrm>
        </p:spPr>
        <p:txBody>
          <a:bodyPr>
            <a:normAutofit/>
          </a:bodyPr>
          <a:lstStyle/>
          <a:p>
            <a:pPr algn="just">
              <a:lnSpc>
                <a:spcPct val="150000"/>
              </a:lnSpc>
            </a:pPr>
            <a:r>
              <a:rPr dirty="0">
                <a:latin typeface="Times New Roman" panose="02020603050405020304" pitchFamily="18" charset="0"/>
                <a:cs typeface="Times New Roman" panose="02020603050405020304" pitchFamily="18" charset="0"/>
              </a:rPr>
              <a:t>Two-phase approach: insecure network setup followed by security measures.</a:t>
            </a:r>
          </a:p>
          <a:p>
            <a:pPr algn="just">
              <a:lnSpc>
                <a:spcPct val="150000"/>
              </a:lnSpc>
            </a:pPr>
            <a:r>
              <a:rPr dirty="0">
                <a:latin typeface="Times New Roman" panose="02020603050405020304" pitchFamily="18" charset="0"/>
                <a:cs typeface="Times New Roman" panose="02020603050405020304" pitchFamily="18" charset="0"/>
              </a:rPr>
              <a:t>Phase 1: Connect devices to an unsecured router for initial testing.</a:t>
            </a:r>
          </a:p>
          <a:p>
            <a:pPr algn="just">
              <a:lnSpc>
                <a:spcPct val="150000"/>
              </a:lnSpc>
            </a:pPr>
            <a:r>
              <a:rPr dirty="0">
                <a:latin typeface="Times New Roman" panose="02020603050405020304" pitchFamily="18" charset="0"/>
                <a:cs typeface="Times New Roman" panose="02020603050405020304" pitchFamily="18" charset="0"/>
              </a:rPr>
              <a:t>Phase 2: Secure network with WPA3, VLANs, MAC filtering, and RBAC.</a:t>
            </a:r>
          </a:p>
          <a:p>
            <a:pPr algn="just">
              <a:lnSpc>
                <a:spcPct val="150000"/>
              </a:lnSpc>
            </a:pPr>
            <a:r>
              <a:rPr dirty="0">
                <a:latin typeface="Times New Roman" panose="02020603050405020304" pitchFamily="18" charset="0"/>
                <a:cs typeface="Times New Roman" panose="02020603050405020304" pitchFamily="18" charset="0"/>
              </a:rPr>
              <a:t>Simulation performed using Cisco Packet Tracer.</a:t>
            </a:r>
          </a:p>
          <a:p>
            <a:pPr algn="just">
              <a:lnSpc>
                <a:spcPct val="150000"/>
              </a:lnSpc>
            </a:pPr>
            <a:r>
              <a:rPr dirty="0">
                <a:latin typeface="Times New Roman" panose="02020603050405020304" pitchFamily="18" charset="0"/>
                <a:cs typeface="Times New Roman" panose="02020603050405020304" pitchFamily="18" charset="0"/>
              </a:rPr>
              <a:t>Test results help validate the security measures' effectiveness.</a:t>
            </a:r>
          </a:p>
          <a:p>
            <a:pPr algn="just">
              <a:lnSpc>
                <a:spcPct val="150000"/>
              </a:lnSpc>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INSECURE NETWORK SETUP</a:t>
            </a:r>
          </a:p>
        </p:txBody>
      </p:sp>
      <p:sp>
        <p:nvSpPr>
          <p:cNvPr id="3" name="Content Placeholder 2"/>
          <p:cNvSpPr>
            <a:spLocks noGrp="1"/>
          </p:cNvSpPr>
          <p:nvPr>
            <p:ph idx="1"/>
          </p:nvPr>
        </p:nvSpPr>
        <p:spPr>
          <a:xfrm>
            <a:off x="479198" y="1853248"/>
            <a:ext cx="6894059" cy="4195481"/>
          </a:xfrm>
        </p:spPr>
        <p:txBody>
          <a:bodyPr/>
          <a:lstStyle/>
          <a:p>
            <a:pPr algn="just">
              <a:lnSpc>
                <a:spcPct val="150000"/>
              </a:lnSpc>
            </a:pPr>
            <a:r>
              <a:rPr dirty="0">
                <a:latin typeface="Times New Roman" panose="02020603050405020304" pitchFamily="18" charset="0"/>
                <a:cs typeface="Times New Roman" panose="02020603050405020304" pitchFamily="18" charset="0"/>
              </a:rPr>
              <a:t>Initial network setup involves devices like laptop, smart light, and camera.</a:t>
            </a:r>
          </a:p>
          <a:p>
            <a:pPr algn="just">
              <a:lnSpc>
                <a:spcPct val="150000"/>
              </a:lnSpc>
            </a:pPr>
            <a:r>
              <a:rPr dirty="0">
                <a:latin typeface="Times New Roman" panose="02020603050405020304" pitchFamily="18" charset="0"/>
                <a:cs typeface="Times New Roman" panose="02020603050405020304" pitchFamily="18" charset="0"/>
              </a:rPr>
              <a:t>Devices connected to an open router without any encryption.</a:t>
            </a:r>
          </a:p>
          <a:p>
            <a:pPr algn="just">
              <a:lnSpc>
                <a:spcPct val="150000"/>
              </a:lnSpc>
            </a:pPr>
            <a:r>
              <a:rPr dirty="0">
                <a:latin typeface="Times New Roman" panose="02020603050405020304" pitchFamily="18" charset="0"/>
                <a:cs typeface="Times New Roman" panose="02020603050405020304" pitchFamily="18" charset="0"/>
              </a:rPr>
              <a:t>DHCP is enabled for automatic IP assignment.</a:t>
            </a:r>
          </a:p>
          <a:p>
            <a:pPr algn="just">
              <a:lnSpc>
                <a:spcPct val="150000"/>
              </a:lnSpc>
            </a:pPr>
            <a:r>
              <a:rPr lang="en-IN" dirty="0">
                <a:latin typeface="Times New Roman" panose="02020603050405020304" pitchFamily="18" charset="0"/>
                <a:cs typeface="Times New Roman" panose="02020603050405020304" pitchFamily="18" charset="0"/>
              </a:rPr>
              <a:t>N</a:t>
            </a:r>
            <a:r>
              <a:rPr dirty="0">
                <a:latin typeface="Times New Roman" panose="02020603050405020304" pitchFamily="18" charset="0"/>
                <a:cs typeface="Times New Roman" panose="02020603050405020304" pitchFamily="18" charset="0"/>
              </a:rPr>
              <a:t>o security measures were implemented in this phase.</a:t>
            </a:r>
          </a:p>
          <a:p>
            <a:pPr algn="just">
              <a:lnSpc>
                <a:spcPct val="150000"/>
              </a:lnSpc>
            </a:pPr>
            <a:r>
              <a:rPr dirty="0">
                <a:latin typeface="Times New Roman" panose="02020603050405020304" pitchFamily="18" charset="0"/>
                <a:cs typeface="Times New Roman" panose="02020603050405020304" pitchFamily="18" charset="0"/>
              </a:rPr>
              <a:t>The network was vulnerable to unauthorized access and eavesdropping.</a:t>
            </a:r>
          </a:p>
          <a:p>
            <a:pPr algn="just">
              <a:lnSpc>
                <a:spcPct val="150000"/>
              </a:lnSpc>
            </a:pPr>
            <a:endParaRPr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3ABF8597-51BD-3D1A-EB8A-E6EA4E066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8404" y="2629853"/>
            <a:ext cx="4156075" cy="2374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SECURING THE NETWORK</a:t>
            </a:r>
          </a:p>
        </p:txBody>
      </p:sp>
      <p:sp>
        <p:nvSpPr>
          <p:cNvPr id="3" name="Content Placeholder 2"/>
          <p:cNvSpPr>
            <a:spLocks noGrp="1"/>
          </p:cNvSpPr>
          <p:nvPr>
            <p:ph idx="1"/>
          </p:nvPr>
        </p:nvSpPr>
        <p:spPr>
          <a:xfrm>
            <a:off x="417513" y="2052918"/>
            <a:ext cx="7367588" cy="4195481"/>
          </a:xfrm>
        </p:spPr>
        <p:txBody>
          <a:bodyPr>
            <a:normAutofit lnSpcReduction="10000"/>
          </a:bodyPr>
          <a:lstStyle/>
          <a:p>
            <a:pPr algn="just">
              <a:lnSpc>
                <a:spcPct val="150000"/>
              </a:lnSpc>
            </a:pPr>
            <a:r>
              <a:rPr dirty="0">
                <a:latin typeface="Times New Roman" panose="02020603050405020304" pitchFamily="18" charset="0"/>
                <a:cs typeface="Times New Roman" panose="02020603050405020304" pitchFamily="18" charset="0"/>
              </a:rPr>
              <a:t>WPA3 encryption implemented to secure wireless communication.</a:t>
            </a:r>
          </a:p>
          <a:p>
            <a:pPr algn="just">
              <a:lnSpc>
                <a:spcPct val="150000"/>
              </a:lnSpc>
            </a:pPr>
            <a:r>
              <a:rPr dirty="0">
                <a:latin typeface="Times New Roman" panose="02020603050405020304" pitchFamily="18" charset="0"/>
                <a:cs typeface="Times New Roman" panose="02020603050405020304" pitchFamily="18" charset="0"/>
              </a:rPr>
              <a:t>VLAN segmentation isolated critical devices from non-critical ones.</a:t>
            </a:r>
          </a:p>
          <a:p>
            <a:pPr algn="just">
              <a:lnSpc>
                <a:spcPct val="150000"/>
              </a:lnSpc>
            </a:pPr>
            <a:r>
              <a:rPr dirty="0">
                <a:latin typeface="Times New Roman" panose="02020603050405020304" pitchFamily="18" charset="0"/>
                <a:cs typeface="Times New Roman" panose="02020603050405020304" pitchFamily="18" charset="0"/>
              </a:rPr>
              <a:t>MAC filtering allowed only authorized devices to connect.</a:t>
            </a:r>
          </a:p>
          <a:p>
            <a:pPr algn="just">
              <a:lnSpc>
                <a:spcPct val="150000"/>
              </a:lnSpc>
            </a:pPr>
            <a:r>
              <a:rPr dirty="0">
                <a:latin typeface="Times New Roman" panose="02020603050405020304" pitchFamily="18" charset="0"/>
                <a:cs typeface="Times New Roman" panose="02020603050405020304" pitchFamily="18" charset="0"/>
              </a:rPr>
              <a:t>Role-based access control (RBAC) ensured device-specific permissions.</a:t>
            </a:r>
          </a:p>
          <a:p>
            <a:pPr algn="just">
              <a:lnSpc>
                <a:spcPct val="150000"/>
              </a:lnSpc>
            </a:pPr>
            <a:r>
              <a:rPr dirty="0">
                <a:latin typeface="Times New Roman" panose="02020603050405020304" pitchFamily="18" charset="0"/>
                <a:cs typeface="Times New Roman" panose="02020603050405020304" pitchFamily="18" charset="0"/>
              </a:rPr>
              <a:t>These measures enhanced the network security, preventing unauthorized access.</a:t>
            </a:r>
          </a:p>
          <a:p>
            <a:pPr algn="just">
              <a:lnSpc>
                <a:spcPct val="150000"/>
              </a:lnSpc>
            </a:pPr>
            <a:endParaRPr dirty="0">
              <a:latin typeface="Times New Roman" panose="02020603050405020304" pitchFamily="18" charset="0"/>
              <a:cs typeface="Times New Roman" panose="02020603050405020304" pitchFamily="18" charset="0"/>
            </a:endParaRPr>
          </a:p>
        </p:txBody>
      </p:sp>
      <p:pic>
        <p:nvPicPr>
          <p:cNvPr id="3074" name="Picture 2" descr="Security Analysis of Low-Budget IoT Smart Home Appliances Embedded Software  and Connectivity">
            <a:extLst>
              <a:ext uri="{FF2B5EF4-FFF2-40B4-BE49-F238E27FC236}">
                <a16:creationId xmlns:a16="http://schemas.microsoft.com/office/drawing/2014/main" id="{D03AC6E6-5017-376A-FC3C-017AACC6A6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3113" y="2333842"/>
            <a:ext cx="2986087" cy="33034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572" y="452718"/>
            <a:ext cx="10870699" cy="1400530"/>
          </a:xfrm>
        </p:spPr>
        <p:txBody>
          <a:bodyPr/>
          <a:lstStyle/>
          <a:p>
            <a:r>
              <a:rPr lang="en-IN" sz="3600" b="1" dirty="0">
                <a:latin typeface="Times New Roman" panose="02020603050405020304" pitchFamily="18" charset="0"/>
                <a:cs typeface="Times New Roman" panose="02020603050405020304" pitchFamily="18" charset="0"/>
              </a:rPr>
              <a:t>RESULTS - IMPROVEMENT IN SECURITY</a:t>
            </a:r>
          </a:p>
        </p:txBody>
      </p:sp>
      <p:sp>
        <p:nvSpPr>
          <p:cNvPr id="3" name="Content Placeholder 2"/>
          <p:cNvSpPr>
            <a:spLocks noGrp="1"/>
          </p:cNvSpPr>
          <p:nvPr>
            <p:ph idx="1"/>
          </p:nvPr>
        </p:nvSpPr>
        <p:spPr>
          <a:xfrm>
            <a:off x="722313" y="1823366"/>
            <a:ext cx="6719888" cy="4195481"/>
          </a:xfrm>
        </p:spPr>
        <p:txBody>
          <a:bodyPr>
            <a:normAutofit lnSpcReduction="10000"/>
          </a:bodyPr>
          <a:lstStyle/>
          <a:p>
            <a:pPr algn="just">
              <a:lnSpc>
                <a:spcPct val="150000"/>
              </a:lnSpc>
            </a:pPr>
            <a:r>
              <a:rPr dirty="0">
                <a:latin typeface="Times New Roman" panose="02020603050405020304" pitchFamily="18" charset="0"/>
                <a:cs typeface="Times New Roman" panose="02020603050405020304" pitchFamily="18" charset="0"/>
              </a:rPr>
              <a:t>Devices in separate VLANs showed improved isolation.</a:t>
            </a:r>
          </a:p>
          <a:p>
            <a:pPr algn="just">
              <a:lnSpc>
                <a:spcPct val="150000"/>
              </a:lnSpc>
            </a:pPr>
            <a:r>
              <a:rPr dirty="0">
                <a:latin typeface="Times New Roman" panose="02020603050405020304" pitchFamily="18" charset="0"/>
                <a:cs typeface="Times New Roman" panose="02020603050405020304" pitchFamily="18" charset="0"/>
              </a:rPr>
              <a:t>Only authorized devices could connect to the network.</a:t>
            </a:r>
          </a:p>
          <a:p>
            <a:pPr algn="just">
              <a:lnSpc>
                <a:spcPct val="150000"/>
              </a:lnSpc>
            </a:pPr>
            <a:r>
              <a:rPr dirty="0">
                <a:latin typeface="Times New Roman" panose="02020603050405020304" pitchFamily="18" charset="0"/>
                <a:cs typeface="Times New Roman" panose="02020603050405020304" pitchFamily="18" charset="0"/>
              </a:rPr>
              <a:t>Network segmentation restricted unnecessary cross-communication.</a:t>
            </a:r>
          </a:p>
          <a:p>
            <a:pPr algn="just">
              <a:lnSpc>
                <a:spcPct val="150000"/>
              </a:lnSpc>
            </a:pPr>
            <a:r>
              <a:rPr dirty="0">
                <a:latin typeface="Times New Roman" panose="02020603050405020304" pitchFamily="18" charset="0"/>
                <a:cs typeface="Times New Roman" panose="02020603050405020304" pitchFamily="18" charset="0"/>
              </a:rPr>
              <a:t>WPA3 encryption ensured encrypted communication between devices.</a:t>
            </a:r>
          </a:p>
          <a:p>
            <a:pPr algn="just">
              <a:lnSpc>
                <a:spcPct val="150000"/>
              </a:lnSpc>
            </a:pPr>
            <a:r>
              <a:rPr dirty="0">
                <a:latin typeface="Times New Roman" panose="02020603050405020304" pitchFamily="18" charset="0"/>
                <a:cs typeface="Times New Roman" panose="02020603050405020304" pitchFamily="18" charset="0"/>
              </a:rPr>
              <a:t>MAC filtering added an extra layer by blocking unauthorized devices.</a:t>
            </a:r>
          </a:p>
          <a:p>
            <a:pPr algn="just">
              <a:lnSpc>
                <a:spcPct val="150000"/>
              </a:lnSpc>
            </a:pPr>
            <a:endParaRPr dirty="0">
              <a:latin typeface="Times New Roman" panose="02020603050405020304" pitchFamily="18" charset="0"/>
              <a:cs typeface="Times New Roman" panose="02020603050405020304" pitchFamily="18" charset="0"/>
            </a:endParaRPr>
          </a:p>
        </p:txBody>
      </p:sp>
      <p:pic>
        <p:nvPicPr>
          <p:cNvPr id="2050" name="Picture 2" descr="Design and Implementation of an IoT Access Point for Smart Home">
            <a:extLst>
              <a:ext uri="{FF2B5EF4-FFF2-40B4-BE49-F238E27FC236}">
                <a16:creationId xmlns:a16="http://schemas.microsoft.com/office/drawing/2014/main" id="{E03A8B12-FEAA-21D3-D0BD-2DEB148DE7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7787" y="2670559"/>
            <a:ext cx="3771900" cy="25010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CHALLENGES ENCOUNTERED</a:t>
            </a:r>
          </a:p>
        </p:txBody>
      </p:sp>
      <p:sp>
        <p:nvSpPr>
          <p:cNvPr id="3" name="Content Placeholder 2"/>
          <p:cNvSpPr>
            <a:spLocks noGrp="1"/>
          </p:cNvSpPr>
          <p:nvPr>
            <p:ph idx="1"/>
          </p:nvPr>
        </p:nvSpPr>
        <p:spPr>
          <a:xfrm>
            <a:off x="430213" y="2052918"/>
            <a:ext cx="6669088" cy="4195481"/>
          </a:xfrm>
        </p:spPr>
        <p:txBody>
          <a:bodyPr>
            <a:normAutofit lnSpcReduction="10000"/>
          </a:bodyPr>
          <a:lstStyle/>
          <a:p>
            <a:pPr algn="just">
              <a:lnSpc>
                <a:spcPct val="150000"/>
              </a:lnSpc>
            </a:pPr>
            <a:r>
              <a:rPr dirty="0">
                <a:latin typeface="Times New Roman" panose="02020603050405020304" pitchFamily="18" charset="0"/>
                <a:cs typeface="Times New Roman" panose="02020603050405020304" pitchFamily="18" charset="0"/>
              </a:rPr>
              <a:t>Misconfiguration of VLANs initially blocked communication between devices.</a:t>
            </a:r>
          </a:p>
          <a:p>
            <a:pPr algn="just">
              <a:lnSpc>
                <a:spcPct val="150000"/>
              </a:lnSpc>
            </a:pPr>
            <a:r>
              <a:rPr dirty="0">
                <a:latin typeface="Times New Roman" panose="02020603050405020304" pitchFamily="18" charset="0"/>
                <a:cs typeface="Times New Roman" panose="02020603050405020304" pitchFamily="18" charset="0"/>
              </a:rPr>
              <a:t>VLAN issues resolved through proper VLAN settings.</a:t>
            </a:r>
          </a:p>
          <a:p>
            <a:pPr algn="just">
              <a:lnSpc>
                <a:spcPct val="150000"/>
              </a:lnSpc>
            </a:pPr>
            <a:r>
              <a:rPr dirty="0">
                <a:latin typeface="Times New Roman" panose="02020603050405020304" pitchFamily="18" charset="0"/>
                <a:cs typeface="Times New Roman" panose="02020603050405020304" pitchFamily="18" charset="0"/>
              </a:rPr>
              <a:t>MAC filtering caused devices to fail to connect initially.</a:t>
            </a:r>
          </a:p>
          <a:p>
            <a:pPr algn="just">
              <a:lnSpc>
                <a:spcPct val="150000"/>
              </a:lnSpc>
            </a:pPr>
            <a:r>
              <a:rPr dirty="0">
                <a:latin typeface="Times New Roman" panose="02020603050405020304" pitchFamily="18" charset="0"/>
                <a:cs typeface="Times New Roman" panose="02020603050405020304" pitchFamily="18" charset="0"/>
              </a:rPr>
              <a:t>Configuration errors in ACL and VLAN resulted in connectivity issues.</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T</a:t>
            </a:r>
            <a:r>
              <a:rPr dirty="0" err="1">
                <a:latin typeface="Times New Roman" panose="02020603050405020304" pitchFamily="18" charset="0"/>
                <a:cs typeface="Times New Roman" panose="02020603050405020304" pitchFamily="18" charset="0"/>
              </a:rPr>
              <a:t>hese</a:t>
            </a:r>
            <a:r>
              <a:rPr dirty="0">
                <a:latin typeface="Times New Roman" panose="02020603050405020304" pitchFamily="18" charset="0"/>
                <a:cs typeface="Times New Roman" panose="02020603050405020304" pitchFamily="18" charset="0"/>
              </a:rPr>
              <a:t> challenges were addressed by carefully verifying settings.</a:t>
            </a:r>
          </a:p>
          <a:p>
            <a:pPr algn="just">
              <a:lnSpc>
                <a:spcPct val="150000"/>
              </a:lnSpc>
            </a:pPr>
            <a:endParaRPr dirty="0">
              <a:latin typeface="Times New Roman" panose="02020603050405020304" pitchFamily="18" charset="0"/>
              <a:cs typeface="Times New Roman" panose="02020603050405020304" pitchFamily="18" charset="0"/>
            </a:endParaRPr>
          </a:p>
        </p:txBody>
      </p:sp>
      <p:pic>
        <p:nvPicPr>
          <p:cNvPr id="4098" name="Picture 2" descr="IoT Privacy and Security Challenges for Smart Home Environments">
            <a:extLst>
              <a:ext uri="{FF2B5EF4-FFF2-40B4-BE49-F238E27FC236}">
                <a16:creationId xmlns:a16="http://schemas.microsoft.com/office/drawing/2014/main" id="{590FA263-9952-01EE-BCBA-8795F85403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150" y="2052918"/>
            <a:ext cx="2810186" cy="3419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normAutofit/>
          </a:bodyPr>
          <a:lstStyle/>
          <a:p>
            <a:pPr algn="just">
              <a:lnSpc>
                <a:spcPct val="150000"/>
              </a:lnSpc>
            </a:pPr>
            <a:r>
              <a:rPr dirty="0">
                <a:latin typeface="Times New Roman" panose="02020603050405020304" pitchFamily="18" charset="0"/>
                <a:cs typeface="Times New Roman" panose="02020603050405020304" pitchFamily="18" charset="0"/>
              </a:rPr>
              <a:t>WPA3 encryption, VLAN segmentation, and MAC filtering enhanced security.</a:t>
            </a:r>
          </a:p>
          <a:p>
            <a:pPr algn="just">
              <a:lnSpc>
                <a:spcPct val="150000"/>
              </a:lnSpc>
            </a:pPr>
            <a:r>
              <a:rPr dirty="0">
                <a:latin typeface="Times New Roman" panose="02020603050405020304" pitchFamily="18" charset="0"/>
                <a:cs typeface="Times New Roman" panose="02020603050405020304" pitchFamily="18" charset="0"/>
              </a:rPr>
              <a:t>IoT networks are now better protected against unauthorized access.</a:t>
            </a:r>
          </a:p>
          <a:p>
            <a:pPr algn="just">
              <a:lnSpc>
                <a:spcPct val="150000"/>
              </a:lnSpc>
            </a:pPr>
            <a:r>
              <a:rPr dirty="0">
                <a:latin typeface="Times New Roman" panose="02020603050405020304" pitchFamily="18" charset="0"/>
                <a:cs typeface="Times New Roman" panose="02020603050405020304" pitchFamily="18" charset="0"/>
              </a:rPr>
              <a:t>Network structure optimization is crucial for smart home security.</a:t>
            </a:r>
          </a:p>
          <a:p>
            <a:pPr algn="just">
              <a:lnSpc>
                <a:spcPct val="150000"/>
              </a:lnSpc>
            </a:pPr>
            <a:r>
              <a:rPr dirty="0">
                <a:latin typeface="Times New Roman" panose="02020603050405020304" pitchFamily="18" charset="0"/>
                <a:cs typeface="Times New Roman" panose="02020603050405020304" pitchFamily="18" charset="0"/>
              </a:rPr>
              <a:t>Future work includes investigating additional security measures.</a:t>
            </a:r>
          </a:p>
          <a:p>
            <a:pPr algn="just">
              <a:lnSpc>
                <a:spcPct val="150000"/>
              </a:lnSpc>
            </a:pPr>
            <a:r>
              <a:rPr dirty="0">
                <a:latin typeface="Times New Roman" panose="02020603050405020304" pitchFamily="18" charset="0"/>
                <a:cs typeface="Times New Roman" panose="02020603050405020304" pitchFamily="18" charset="0"/>
              </a:rPr>
              <a:t>Automation of security controls could further enhance IoT protection.</a:t>
            </a:r>
          </a:p>
          <a:p>
            <a:pPr algn="just">
              <a:lnSpc>
                <a:spcPct val="150000"/>
              </a:lnSpc>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860314" y="2045542"/>
            <a:ext cx="10471372" cy="4195481"/>
          </a:xfrm>
        </p:spPr>
        <p:txBody>
          <a:bodyPr>
            <a:normAutofit/>
          </a:bodyPr>
          <a:lstStyle/>
          <a:p>
            <a:pPr algn="just">
              <a:lnSpc>
                <a:spcPct val="150000"/>
              </a:lnSpc>
            </a:pPr>
            <a:r>
              <a:rPr lang="en-IN" dirty="0" err="1">
                <a:latin typeface="Times New Roman" panose="02020603050405020304" pitchFamily="18" charset="0"/>
                <a:cs typeface="Times New Roman" panose="02020603050405020304" pitchFamily="18" charset="0"/>
              </a:rPr>
              <a:t>Touqeer</a:t>
            </a:r>
            <a:r>
              <a:rPr lang="en-IN" dirty="0">
                <a:latin typeface="Times New Roman" panose="02020603050405020304" pitchFamily="18" charset="0"/>
                <a:cs typeface="Times New Roman" panose="02020603050405020304" pitchFamily="18" charset="0"/>
              </a:rPr>
              <a:t>, H., Zaman, S., Amin, R., Hussain, M., Al-</a:t>
            </a:r>
            <a:r>
              <a:rPr lang="en-IN" dirty="0" err="1">
                <a:latin typeface="Times New Roman" panose="02020603050405020304" pitchFamily="18" charset="0"/>
                <a:cs typeface="Times New Roman" panose="02020603050405020304" pitchFamily="18" charset="0"/>
              </a:rPr>
              <a:t>Turjman</a:t>
            </a:r>
            <a:r>
              <a:rPr lang="en-IN" dirty="0">
                <a:latin typeface="Times New Roman" panose="02020603050405020304" pitchFamily="18" charset="0"/>
                <a:cs typeface="Times New Roman" panose="02020603050405020304" pitchFamily="18" charset="0"/>
              </a:rPr>
              <a:t>, F. and Bilal, M., 2021. Smart home security: challenges, issues and solutions at different IoT layers. The Journal of Supercomputing, 77(12), pp.14053-14089.</a:t>
            </a:r>
          </a:p>
          <a:p>
            <a:pPr algn="just">
              <a:lnSpc>
                <a:spcPct val="150000"/>
              </a:lnSpc>
            </a:pPr>
            <a:r>
              <a:rPr lang="en-IN" dirty="0">
                <a:latin typeface="Times New Roman" panose="02020603050405020304" pitchFamily="18" charset="0"/>
                <a:cs typeface="Times New Roman" panose="02020603050405020304" pitchFamily="18" charset="0"/>
              </a:rPr>
              <a:t>Lata, M. and Kumar, V., 2022. IoT network security in smart homes. Cybersecurity in smart homes: architectures, solutions and technologies, pp.155-176.</a:t>
            </a:r>
          </a:p>
          <a:p>
            <a:pPr algn="just">
              <a:lnSpc>
                <a:spcPct val="150000"/>
              </a:lnSpc>
            </a:pPr>
            <a:r>
              <a:rPr lang="en-IN" dirty="0">
                <a:latin typeface="Times New Roman" panose="02020603050405020304" pitchFamily="18" charset="0"/>
                <a:cs typeface="Times New Roman" panose="02020603050405020304" pitchFamily="18" charset="0"/>
              </a:rPr>
              <a:t>Sisavath, C. and Yu, L., 2021. Design and implementation of security system for smart home based on IOT technology. Procedia Computer Science, 183, pp.4-13.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1ADB2-5D76-7057-AFB9-72714C66C172}"/>
              </a:ext>
            </a:extLst>
          </p:cNvPr>
          <p:cNvSpPr>
            <a:spLocks noGrp="1"/>
          </p:cNvSpPr>
          <p:nvPr>
            <p:ph type="title"/>
          </p:nvPr>
        </p:nvSpPr>
        <p:spPr>
          <a:xfrm>
            <a:off x="1513772" y="1903909"/>
            <a:ext cx="8825657" cy="1915647"/>
          </a:xfrm>
          <a:effectLst>
            <a:outerShdw blurRad="50800" dist="38100" dir="5400000" algn="t" rotWithShape="0">
              <a:prstClr val="black">
                <a:alpha val="40000"/>
              </a:prstClr>
            </a:outerShdw>
          </a:effectLst>
        </p:spPr>
        <p:txBody>
          <a:bodyPr/>
          <a:lstStyle/>
          <a:p>
            <a:pPr algn="ctr"/>
            <a:r>
              <a:rPr lang="en-IN" sz="6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226008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15</TotalTime>
  <Words>1830</Words>
  <Application>Microsoft Office PowerPoint</Application>
  <PresentationFormat>Widescreen</PresentationFormat>
  <Paragraphs>84</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Century Gothic</vt:lpstr>
      <vt:lpstr>Times New Roman</vt:lpstr>
      <vt:lpstr>Wingdings 3</vt:lpstr>
      <vt:lpstr>Ion</vt:lpstr>
      <vt:lpstr>SECURING HOME IOT SETUP AT NETWORK ARCHITECTURE LEVEL  </vt:lpstr>
      <vt:lpstr>INTRODUCTION</vt:lpstr>
      <vt:lpstr>LITERATURE REVIEW</vt:lpstr>
      <vt:lpstr>RESEARCH METHODOLOGY</vt:lpstr>
      <vt:lpstr>INSECURE NETWORK SETUP</vt:lpstr>
      <vt:lpstr>SECURING THE NETWORK</vt:lpstr>
      <vt:lpstr>RESULTS - IMPROVEMENT IN SECURITY</vt:lpstr>
      <vt:lpstr>CHALLENGES ENCOUNTERED</vt:lpstr>
      <vt:lpstr>CONCLUSION</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USER</cp:lastModifiedBy>
  <cp:revision>3</cp:revision>
  <dcterms:created xsi:type="dcterms:W3CDTF">2013-01-27T09:14:16Z</dcterms:created>
  <dcterms:modified xsi:type="dcterms:W3CDTF">2025-07-14T12:08:50Z</dcterms:modified>
  <cp:category/>
</cp:coreProperties>
</file>